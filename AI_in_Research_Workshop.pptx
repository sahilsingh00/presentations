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1" i="0" u="none" strike="noStrike" dirty="0">
                <a:solidFill>
                  <a:srgbClr val="000000"/>
                </a:solidFill>
                <a:latin typeface="Arial"/>
              </a:rPr>
              <a:t>Hours Saved with AI </a:t>
            </a:r>
            <a:endParaRPr lang="en-US" sz="1800" b="1" i="0" u="none" strike="noStrike" dirty="0" smtClean="0">
              <a:solidFill>
                <a:srgbClr val="000000"/>
              </a:solidFill>
              <a:latin typeface="Arial"/>
            </a:endParaRPr>
          </a:p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600" b="0" i="0" u="none" strike="noStrike" dirty="0" smtClean="0">
                <a:solidFill>
                  <a:srgbClr val="000000"/>
                </a:solidFill>
                <a:latin typeface="Arial"/>
              </a:rPr>
              <a:t>(</a:t>
            </a:r>
            <a:r>
              <a:rPr lang="en-US" sz="1600" b="0" i="0" u="none" strike="noStrike" dirty="0">
                <a:solidFill>
                  <a:srgbClr val="000000"/>
                </a:solidFill>
                <a:latin typeface="Arial"/>
              </a:rPr>
              <a:t>avg. research task)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Spent</c:v>
                </c:pt>
              </c:strCache>
            </c:strRef>
          </c:tx>
          <c:spPr>
            <a:solidFill>
              <a:srgbClr val="AACFE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Data Cleaning</c:v>
                </c:pt>
                <c:pt idx="1">
                  <c:v>Pattern Finding</c:v>
                </c:pt>
                <c:pt idx="2">
                  <c:v>Statistical
Analysis</c:v>
                </c:pt>
                <c:pt idx="3">
                  <c:v>Visualization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60</c:v>
                </c:pt>
                <c:pt idx="2">
                  <c:v>35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14-49CC-9C4E-B6AB67E35B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AI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Data Cleaning</c:v>
                </c:pt>
                <c:pt idx="1">
                  <c:v>Pattern Finding</c:v>
                </c:pt>
                <c:pt idx="2">
                  <c:v>Statistical
Analysis</c:v>
                </c:pt>
                <c:pt idx="3">
                  <c:v>Visualization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14-49CC-9C4E-B6AB67E35B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005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Shape 1"/>
          <p:cNvSpPr/>
          <p:nvPr/>
        </p:nvSpPr>
        <p:spPr>
          <a:xfrm>
            <a:off x="5862099" y="180594"/>
            <a:ext cx="3200400" cy="3200400"/>
          </a:xfrm>
          <a:prstGeom prst="ellipse">
            <a:avLst/>
          </a:prstGeom>
          <a:solidFill>
            <a:srgbClr val="1B5E9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5770" y="640080"/>
            <a:ext cx="2286000" cy="2286000"/>
          </a:xfrm>
          <a:prstGeom prst="ellipse">
            <a:avLst/>
          </a:prstGeom>
          <a:solidFill>
            <a:srgbClr val="00C2FF">
              <a:alpha val="2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418" y="1094994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008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Research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A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Artificial Intelligence is transforming the way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AA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discover, analyze, and publish knowledge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B5E9B">
              <a:alpha val="7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Duration: 1 Hour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Workshop Session  |  Real-World Examples Included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5E9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1-hour roadmap through AI &amp; Research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73152" cy="1005840"/>
          </a:xfrm>
          <a:prstGeom prst="rect">
            <a:avLst/>
          </a:prstGeom>
          <a:solidFill>
            <a:srgbClr val="1B5E9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44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— ML, Deep Learning, NLP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532888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32888"/>
            <a:ext cx="73152" cy="10058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Literature Review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172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Elicit, Semantic Scholar, ResearchRabbit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280720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694176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694176"/>
            <a:ext cx="73152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673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041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Data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334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lab examples + case studies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39684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13716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371600"/>
            <a:ext cx="73152" cy="10058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444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17190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&amp; Publishing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Grammarly, AI peer-review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532888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532888"/>
            <a:ext cx="73152" cy="1005840"/>
          </a:xfrm>
          <a:prstGeom prst="rect">
            <a:avLst/>
          </a:prstGeom>
          <a:solidFill>
            <a:srgbClr val="C04000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Limitations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6320" y="3172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hallucination, academic integrity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09560" y="280720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694176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694176"/>
            <a:ext cx="73152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7673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4041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Demo + Q&amp;A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46320" y="4334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tool walkthrough &amp; discussion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909560" y="39684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Artificial Intelligence?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4442" y="1078992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B5E9B">
              <a:alpha val="80000"/>
            </a:srgbClr>
          </a:solidFill>
          <a:ln w="12700">
            <a:solidFill>
              <a:srgbClr val="1B5E9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807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that simulate human thinking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961388"/>
            <a:ext cx="7498080" cy="777240"/>
          </a:xfrm>
          <a:prstGeom prst="roundRect">
            <a:avLst>
              <a:gd name="adj" fmla="val 9412"/>
            </a:avLst>
          </a:prstGeom>
          <a:solidFill>
            <a:srgbClr val="00A896">
              <a:alpha val="8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5840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3331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learn from data without explicit programming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17320" y="2856207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00C2FF">
              <a:alpha val="80000"/>
            </a:srgbClr>
          </a:solidFill>
          <a:ln w="12700">
            <a:solidFill>
              <a:srgbClr val="00C2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7908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7908" y="322266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inspired by the human brain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3689405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375102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NLP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4090846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— teaches machines to understand, read &amp; generate human text (Used in ChatGPT, Elicit, etc.)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572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Real Example: Google Translate uses NLP. AlphaFold uses Deep Learning to predict protein structures.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9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•  AI in Literature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papers used to take weeks. Now it takes minutes.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64008"/>
          </a:xfrm>
          <a:prstGeom prst="rect">
            <a:avLst/>
          </a:prstGeom>
          <a:solidFill>
            <a:srgbClr val="1B5E9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Elicit.org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61848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1B5E9B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6184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9659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research question. Gets 100s of papers + auto-extracts key findings. Used by 200,000+ researchers.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43000"/>
            <a:ext cx="411480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46320" y="161848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A896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6184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Intelligence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academic search engine by Allen Institute for AI. Finds hidden connections between papers.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41148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54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ResearchRabbit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11480" y="349300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7C3AED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930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Discovery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8404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'Spotify for research' — feed one paper, it maps the entire research landscape visually.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017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017520"/>
            <a:ext cx="4114800" cy="640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154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Consensus.app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46320" y="349300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A580C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4930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Synthesis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8404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'Does sugar cause diabetes?' — it reads 200M papers and gives a consensus answer with citations.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B5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Real Example: IIT Delhi researchers used Elicit to review 5,000 papers on air quality in 3 days (instead of 6 months).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•  AI for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insights — at superhuman speed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73903429"/>
              </p:ext>
            </p:extLst>
          </p:nvPr>
        </p:nvGraphicFramePr>
        <p:xfrm>
          <a:off x="274320" y="1097280"/>
          <a:ext cx="457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120640" y="1097280"/>
            <a:ext cx="3749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120640" y="1097280"/>
            <a:ext cx="73152" cy="1188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5257800" y="1188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AlphaFold (DeepMind)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57800" y="15361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3D structure of 200M+ proteins. A task that took crystallographers years, now done in minutes. Nobel Prize in Chemistry 2024.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20640" y="2468880"/>
            <a:ext cx="3749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20640" y="2468880"/>
            <a:ext cx="73152" cy="1188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60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AIIMS Delhi — Radiology AI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57800" y="29077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detects TB in chest X-rays with 96% accuracy, helping doctors in rural areas where specialists are unavailable.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120640" y="3840480"/>
            <a:ext cx="3749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120640" y="3840480"/>
            <a:ext cx="73152" cy="1188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5257800" y="3931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ICRISAT Agriculture AI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257800" y="42793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analyzed satellite images + soil data to predict crop yield for 40M farmers across South Asia.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E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 •  AI in Writing &amp; Publishing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your co-author, editor &amp; peer reviewer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188720" cy="1280160"/>
          </a:xfrm>
          <a:prstGeom prst="roundRect">
            <a:avLst>
              <a:gd name="adj" fmla="val 7692"/>
            </a:avLst>
          </a:prstGeom>
          <a:solidFill>
            <a:srgbClr val="64748B">
              <a:alpha val="8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Notes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737360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9072" y="1097280"/>
            <a:ext cx="1188720" cy="1280160"/>
          </a:xfrm>
          <a:prstGeom prst="roundRect">
            <a:avLst>
              <a:gd name="adj" fmla="val 7692"/>
            </a:avLst>
          </a:prstGeom>
          <a:solidFill>
            <a:srgbClr val="1B5E9B">
              <a:alpha val="85000"/>
            </a:srgbClr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19072" y="11430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19072" y="164592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07792" y="1737360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1097280"/>
            <a:ext cx="1188720" cy="1280160"/>
          </a:xfrm>
          <a:prstGeom prst="roundRect">
            <a:avLst>
              <a:gd name="adj" fmla="val 7692"/>
            </a:avLst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3824" y="11430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163824" y="164592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52544" y="1737360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8576" y="1097280"/>
            <a:ext cx="1188720" cy="1280160"/>
          </a:xfrm>
          <a:prstGeom prst="roundRect">
            <a:avLst>
              <a:gd name="adj" fmla="val 7692"/>
            </a:avLst>
          </a:prstGeom>
          <a:solidFill>
            <a:srgbClr val="EA580C">
              <a:alpha val="8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1430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08576" y="164592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iThenticate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97296" y="1737360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3328" y="1097280"/>
            <a:ext cx="1188720" cy="1280160"/>
          </a:xfrm>
          <a:prstGeom prst="roundRect">
            <a:avLst>
              <a:gd name="adj" fmla="val 7692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11430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053328" y="164592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42048" y="1737360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1097280"/>
            <a:ext cx="1188720" cy="1280160"/>
          </a:xfrm>
          <a:prstGeom prst="roundRect">
            <a:avLst>
              <a:gd name="adj" fmla="val 7692"/>
            </a:avLst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11430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98080" y="164592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6060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606040"/>
            <a:ext cx="73152" cy="914400"/>
          </a:xfrm>
          <a:prstGeom prst="rect">
            <a:avLst/>
          </a:prstGeom>
          <a:solidFill>
            <a:srgbClr val="1B5E9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91840" y="2715768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1B5E9B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27157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081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sections, paraphrase, translate, simplify jargon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6060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606040"/>
            <a:ext cx="73152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Grammarly Premium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26680" y="2715768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00A896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726680" y="27157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3081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grammar, clarity, tone detection for academic writing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7033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3703320"/>
            <a:ext cx="73152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Writefull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91840" y="3813048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7C3AED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291840" y="38130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1788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tool built for academic papers — suggests precise phrasing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37033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3703320"/>
            <a:ext cx="73152" cy="9144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Scite.ai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726680" y="3813048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EA580C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726680" y="38130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92040" y="41788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papers are cited — positively, negatively, or just mentioned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 Important</a:t>
            </a:r>
            <a:r>
              <a:rPr lang="en-US" sz="11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Always disclose AI use in your paper. Many journals like Nature, Elsevier require 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Real-World Impact — AI in Research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from India and around the world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600200"/>
          </a:xfrm>
          <a:prstGeom prst="rect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80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COVID-19 Drug Discovery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CSIR India + AI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8562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CSIR used AI to screen 8,000 molecules in 48 hours for potential COVID treatments — a task that would have taken 2 years traditionally.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400x faster drug screening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14800" cy="1600200"/>
          </a:xfrm>
          <a:prstGeom prst="rect">
            <a:avLst/>
          </a:prstGeom>
          <a:solidFill>
            <a:srgbClr val="1B5E9B">
              <a:alpha val="20000"/>
            </a:srgbClr>
          </a:solidFill>
          <a:ln w="12700">
            <a:solidFill>
              <a:srgbClr val="1B5E9B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280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Diabetic Retinopathy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Aravind Eye Hospital + Google 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8562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trained on 128,000 retinal images detects diabetic blindness with 90%+ accuracy — helping screen millions in rural India.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487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10M+ patients screened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114800" cy="160020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Flood Prediction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429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+ Kerala Govt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6850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using satellite data + river sensors predicted the 2018 Kerala floods 3 days early, enabling evacuation of 65,000 people.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315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65,000 lives protected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114800" cy="1600200"/>
          </a:xfrm>
          <a:prstGeom prst="rect">
            <a:avLst/>
          </a:prstGeom>
          <a:solidFill>
            <a:srgbClr val="EA580C">
              <a:alpha val="20000"/>
            </a:srgbClr>
          </a:solidFill>
          <a:ln w="12700">
            <a:solidFill>
              <a:srgbClr val="EA580C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Education Research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Bombay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6850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analyzed 10 years of student performance data to identify dropout risk factors — researchers published 12 papers using AI data tools.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4315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40% drop in dropout rate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04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 •  Ethics &amp; Limitations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powerful — but not perfect. Use it wisely.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697480" cy="54864"/>
          </a:xfrm>
          <a:prstGeom prst="rect">
            <a:avLst/>
          </a:prstGeom>
          <a:solidFill>
            <a:srgbClr val="C040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07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 Hallucination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invents fake citations, wrong statistics, non-existent authors. Always verify every fact AI gives you.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2514600" cy="530352"/>
          </a:xfrm>
          <a:prstGeom prst="rect">
            <a:avLst/>
          </a:prstGeom>
          <a:solidFill>
            <a:srgbClr val="FFF3EE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" y="21945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GPT once cited 6 fake court cases — a lawyer submitted them in real court.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82112" y="109728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097280"/>
            <a:ext cx="2697480" cy="54864"/>
          </a:xfrm>
          <a:prstGeom prst="rect">
            <a:avLst/>
          </a:prstGeom>
          <a:solidFill>
            <a:srgbClr val="C04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73552" y="1207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Bias in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73552" y="15544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training data is biased (e.g. only Western clinical trials), AI conclusions will be biased too.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73552" y="2176272"/>
            <a:ext cx="2514600" cy="530352"/>
          </a:xfrm>
          <a:prstGeom prst="rect">
            <a:avLst/>
          </a:prstGeom>
          <a:solidFill>
            <a:srgbClr val="FFF3EE"/>
          </a:solidFill>
          <a:ln/>
        </p:spPr>
      </p:sp>
      <p:sp>
        <p:nvSpPr>
          <p:cNvPr id="16" name="Text 14"/>
          <p:cNvSpPr/>
          <p:nvPr/>
        </p:nvSpPr>
        <p:spPr>
          <a:xfrm>
            <a:off x="3300984" y="21945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Facial recognition fails 35% more often on dark-skinned faces (MIT study).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9904" y="109728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1097280"/>
            <a:ext cx="2697480" cy="54864"/>
          </a:xfrm>
          <a:prstGeom prst="rect">
            <a:avLst/>
          </a:prstGeom>
          <a:solidFill>
            <a:srgbClr val="C04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181344" y="1207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Privacy &amp; 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81344" y="15544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upload patient data, unpublished work, or confidential research to public AI tools.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81344" y="2176272"/>
            <a:ext cx="2514600" cy="530352"/>
          </a:xfrm>
          <a:prstGeom prst="rect">
            <a:avLst/>
          </a:prstGeom>
          <a:solidFill>
            <a:srgbClr val="FFF3EE"/>
          </a:solidFill>
          <a:ln/>
        </p:spPr>
      </p:sp>
      <p:sp>
        <p:nvSpPr>
          <p:cNvPr id="22" name="Text 20"/>
          <p:cNvSpPr/>
          <p:nvPr/>
        </p:nvSpPr>
        <p:spPr>
          <a:xfrm>
            <a:off x="6208776" y="21945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Samsung engineers leaked chip designs by pasting into ChatGPT in 2023.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017520"/>
            <a:ext cx="2697480" cy="54864"/>
          </a:xfrm>
          <a:prstGeom prst="rect">
            <a:avLst/>
          </a:prstGeom>
          <a:solidFill>
            <a:srgbClr val="C0400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127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Academic Integrity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474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AI-written work as your own violates most journal ethics policies. Disclosure is mandatory.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2514600" cy="530352"/>
          </a:xfrm>
          <a:prstGeom prst="rect">
            <a:avLst/>
          </a:prstGeom>
          <a:solidFill>
            <a:srgbClr val="FFF3EE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" y="411480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Nature, Elsevier, IEEE all require AI disclosure in author statements.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82112" y="301752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82112" y="3017520"/>
            <a:ext cx="2697480" cy="54864"/>
          </a:xfrm>
          <a:prstGeom prst="rect">
            <a:avLst/>
          </a:prstGeom>
          <a:solidFill>
            <a:srgbClr val="C04000"/>
          </a:solidFill>
          <a:ln/>
        </p:spPr>
      </p:sp>
      <p:sp>
        <p:nvSpPr>
          <p:cNvPr id="31" name="Text 29"/>
          <p:cNvSpPr/>
          <p:nvPr/>
        </p:nvSpPr>
        <p:spPr>
          <a:xfrm>
            <a:off x="3273552" y="3127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Reproducibility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73552" y="3474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change over time — same prompt gives different results tomorrow. Research must be reproducible.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73552" y="4096512"/>
            <a:ext cx="2514600" cy="530352"/>
          </a:xfrm>
          <a:prstGeom prst="rect">
            <a:avLst/>
          </a:prstGeom>
          <a:solidFill>
            <a:srgbClr val="FFF3EE"/>
          </a:solidFill>
          <a:ln/>
        </p:spPr>
      </p:sp>
      <p:sp>
        <p:nvSpPr>
          <p:cNvPr id="34" name="Text 32"/>
          <p:cNvSpPr/>
          <p:nvPr/>
        </p:nvSpPr>
        <p:spPr>
          <a:xfrm>
            <a:off x="3300984" y="411480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Archive which AI version + prompt you used in your methodology section.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89904" y="301752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9904" y="3017520"/>
            <a:ext cx="2697480" cy="54864"/>
          </a:xfrm>
          <a:prstGeom prst="rect">
            <a:avLst/>
          </a:prstGeom>
          <a:solidFill>
            <a:srgbClr val="C04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181344" y="3127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Over-reliance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81344" y="3474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cannot generate new scientific insight — it remixes existing knowledge. Human creativity still essential.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81344" y="4096512"/>
            <a:ext cx="2514600" cy="530352"/>
          </a:xfrm>
          <a:prstGeom prst="rect">
            <a:avLst/>
          </a:prstGeom>
          <a:solidFill>
            <a:srgbClr val="FFF3EE"/>
          </a:solidFill>
          <a:ln/>
        </p:spPr>
      </p:sp>
      <p:sp>
        <p:nvSpPr>
          <p:cNvPr id="40" name="Text 38"/>
          <p:cNvSpPr/>
          <p:nvPr/>
        </p:nvSpPr>
        <p:spPr>
          <a:xfrm>
            <a:off x="6208776" y="411480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Nobel Prizes still require human curiosity, not just computation.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F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 •  Your AI Research Toolkit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using these tools this week — most are free!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114800" cy="384048"/>
          </a:xfrm>
          <a:prstGeom prst="rect">
            <a:avLst/>
          </a:prstGeom>
          <a:solidFill>
            <a:srgbClr val="1B5E9B">
              <a:alpha val="8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24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Literature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Elicit.org — Free AI paper 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— Free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139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ResearchRabbit — Free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432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Consensus.app — Free tier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07899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78992"/>
            <a:ext cx="4114800" cy="384048"/>
          </a:xfrm>
          <a:prstGeom prst="rect">
            <a:avLst/>
          </a:prstGeom>
          <a:solidFill>
            <a:srgbClr val="00A896">
              <a:alpha val="8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24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 &amp; Analysis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Julius AI — Data analysis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1847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DataRobot — AutoML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139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 Studio — Free tier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432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+ Gemini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9923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99232"/>
            <a:ext cx="4114800" cy="384048"/>
          </a:xfrm>
          <a:prstGeom prst="rect">
            <a:avLst/>
          </a:prstGeom>
          <a:solidFill>
            <a:srgbClr val="7C3AED">
              <a:alpha val="8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044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&amp; Editing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1480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 — Drafting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3767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Grammarly — Grammar &amp; Tone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4059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Writefull — Academic style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352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— Translation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299923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999232"/>
            <a:ext cx="4114800" cy="384048"/>
          </a:xfrm>
          <a:prstGeom prst="rect">
            <a:avLst/>
          </a:prstGeom>
          <a:solidFill>
            <a:srgbClr val="EA580C">
              <a:alpha val="8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044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Citation &amp; Integrity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46320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Zotero — Reference manager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3767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Scite.ai — Citation analysis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4059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iThenticate — Plagiarism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4352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Papers — Visual map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Hands-On: Try These Prompts Now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AI tool and copy-paste these prompts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896112"/>
          </a:xfrm>
          <a:prstGeom prst="rect">
            <a:avLst/>
          </a:prstGeom>
          <a:solidFill>
            <a:srgbClr val="1B5E9B">
              <a:alpha val="18000"/>
            </a:srgbClr>
          </a:solidFill>
          <a:ln w="12700">
            <a:solidFill>
              <a:srgbClr val="1B5E9B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1B5E9B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0" y="11704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the last 5 years of research on [your topic]. Include key findings, research gaps, and top authors. Format as a structured review."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9520" y="13898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5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Elicit.org / ChatGPT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8595360" cy="896112"/>
          </a:xfrm>
          <a:prstGeom prst="rect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1945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Interpretation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217627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survey data on [topic]. The mean is X, SD is Y. What statistical tests should I use? Explain like I'm a researcher."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0" y="2395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ChatGPT / Claude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8595360" cy="896112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20040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2004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Writing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45920" y="31821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250-word structured abstract for a research paper on [topic]. Include: Background, Methods, Results, Conclusion."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0" y="34015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Claude / ChatGPT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114800"/>
            <a:ext cx="8595360" cy="896112"/>
          </a:xfrm>
          <a:prstGeom prst="rect">
            <a:avLst/>
          </a:prstGeom>
          <a:solidFill>
            <a:srgbClr val="EA580C">
              <a:alpha val="18000"/>
            </a:srgbClr>
          </a:solidFill>
          <a:ln w="12700">
            <a:solidFill>
              <a:srgbClr val="EA580C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20624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A580C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2062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Prep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45920" y="41879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this methodology section for logical gaps, potential biases, and missing controls. Be critical like a journal reviewer."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89520" y="44074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ChatGPT / Claude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Pro Tip: The more specific your prompt, the better the output. Always include your field, context &amp; what format you want.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from today's session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52728"/>
            <a:ext cx="384048" cy="384048"/>
          </a:xfrm>
          <a:prstGeom prst="ellipse">
            <a:avLst/>
          </a:prstGeom>
          <a:solidFill>
            <a:srgbClr val="1B5E9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2070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tool, not a replacement — It amplifies your research capability, not your research identity.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0574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 — Pick ONE tool this week. Elicit for a literature search or Claude for abstract writing.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06624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862072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2862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8163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— AI hallucinates. Check every fact, citation, and statistic it gives you.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511296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66674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666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62102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 — Disclose AI use in your papers. Build trust with the academic community.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315968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4471416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4471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4256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evolving fast — The researcher who learns to use AI today will lead the field tomorrow.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5172323" y="740714"/>
            <a:ext cx="3200400" cy="3200400"/>
          </a:xfrm>
          <a:prstGeom prst="ellipse">
            <a:avLst/>
          </a:prstGeom>
          <a:solidFill>
            <a:srgbClr val="1B5E9B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858123" y="1476831"/>
            <a:ext cx="1828800" cy="1828800"/>
          </a:xfrm>
          <a:prstGeom prst="ellipse">
            <a:avLst/>
          </a:prstGeom>
          <a:solidFill>
            <a:srgbClr val="00C2FF">
              <a:alpha val="15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883" y="1938628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322302"/>
            <a:ext cx="355224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15" name="Text 12"/>
          <p:cNvSpPr/>
          <p:nvPr/>
        </p:nvSpPr>
        <p:spPr>
          <a:xfrm>
            <a:off x="87465" y="3383280"/>
            <a:ext cx="5277678" cy="1115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The future of research belongs to those who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collaborate with AI — starting today.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1356</Words>
  <Application>Microsoft Office PowerPoint</Application>
  <PresentationFormat>On-screen Show (16:9)</PresentationFormat>
  <Paragraphs>196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AI in Research</dc:title>
  <dc:subject>PptxGenJS Presentation</dc:subject>
  <dc:creator>Workshop Presenter</dc:creator>
  <cp:lastModifiedBy>DELL</cp:lastModifiedBy>
  <cp:revision>9</cp:revision>
  <dcterms:created xsi:type="dcterms:W3CDTF">2026-04-24T04:46:03Z</dcterms:created>
  <dcterms:modified xsi:type="dcterms:W3CDTF">2026-04-24T04:59:12Z</dcterms:modified>
</cp:coreProperties>
</file>